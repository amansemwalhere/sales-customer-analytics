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85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29000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51478" y="0"/>
            <a:ext cx="3200400" cy="320040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47063" y="2099734"/>
            <a:ext cx="3096937" cy="3028950"/>
          </a:xfrm>
          <a:prstGeom prst="ellipse">
            <a:avLst/>
          </a:prstGeom>
          <a:solidFill>
            <a:srgbClr val="FF2D78">
              <a:alpha val="16000"/>
            </a:srgbClr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3092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2894415" y="2678176"/>
            <a:ext cx="329184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6604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 •  RFM Segmentation  •  Power BI  •  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1371600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76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50008" y="3749040"/>
            <a:ext cx="1371600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3776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22776" y="3749040"/>
            <a:ext cx="1371600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3776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95544" y="3749040"/>
            <a:ext cx="1371600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3776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3749040"/>
            <a:ext cx="1371600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3776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5D30FD6E-8DB5-44C1-9791-94A9F82EEF95}"/>
              </a:ext>
            </a:extLst>
          </p:cNvPr>
          <p:cNvSpPr/>
          <p:nvPr/>
        </p:nvSpPr>
        <p:spPr>
          <a:xfrm>
            <a:off x="3334681" y="4375404"/>
            <a:ext cx="2474638" cy="347472"/>
          </a:xfrm>
          <a:prstGeom prst="rect">
            <a:avLst/>
          </a:prstGeom>
          <a:solidFill>
            <a:srgbClr val="0F1535"/>
          </a:solidFill>
          <a:ln w="6350">
            <a:solidFill>
              <a:srgbClr val="00E5FF">
                <a:alpha val="6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Created by – AMAN SEMWAL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93192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45720" cy="3520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E-Commerce Sales Analytics System that transforms 500,000+ raw transactional records into clear, interactive business insights.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Python for data preprocessing and Power BI for building multi-page dashboards covering sales trends, customer segmentation, product performance, and RFM behavior.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93192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45720" cy="3520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755648"/>
            <a:ext cx="164592" cy="16459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792" y="1691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commerce generates massive data that businesses can't analyze manually.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05456"/>
            <a:ext cx="164592" cy="16459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24414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alone provides no insight — structured analysis reveals hidden patterns.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255264"/>
            <a:ext cx="164592" cy="16459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20" name="Text 18"/>
          <p:cNvSpPr/>
          <p:nvPr/>
        </p:nvSpPr>
        <p:spPr>
          <a:xfrm>
            <a:off x="5193792" y="319125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helps target high-value buyers and improve retention.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4005072"/>
            <a:ext cx="164592" cy="16459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39410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KPIs support faster, evidence-based strategic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39FF14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&amp; Objectives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1572768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29968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234440"/>
            <a:ext cx="1572768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29968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29968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39896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234440"/>
            <a:ext cx="1572768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39896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9824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9824" y="1234440"/>
            <a:ext cx="1572768" cy="36576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49824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49824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59752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234440"/>
            <a:ext cx="1572768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59752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16.41M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9752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(£)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971800"/>
            <a:ext cx="45720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026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 trends, peak periods and product demand across 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2971800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2971800"/>
            <a:ext cx="45720" cy="8686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3026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Total Sales, Profit, RFM metrics, Discount % and Shipping Cost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5624" y="2971800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971800"/>
            <a:ext cx="45720" cy="8686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9" name="Text 37"/>
          <p:cNvSpPr/>
          <p:nvPr/>
        </p:nvSpPr>
        <p:spPr>
          <a:xfrm>
            <a:off x="6272784" y="3026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customers as High / Mid / Low value using Recency, Frequency, Monetary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95020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950208"/>
            <a:ext cx="45720" cy="868680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3159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multi-page Power BI dashboards with filters, slicers and KPI cards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27832" y="395020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27832" y="3950208"/>
            <a:ext cx="45720" cy="868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364992" y="43159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top-sellers and evaluate impact of discounts on profitability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35624" y="395020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35624" y="3950208"/>
            <a:ext cx="45720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72784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72784" y="43159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countries and geographic revenue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200400"/>
            <a:ext cx="2743200" cy="2743200"/>
          </a:xfrm>
          <a:prstGeom prst="ellipse">
            <a:avLst/>
          </a:prstGeom>
          <a:solidFill>
            <a:srgbClr val="BF5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572768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3677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1572768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63677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011680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011680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0756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77440" y="2011680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011680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0756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2450592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450592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51460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77440" y="2450592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2450592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251460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2889504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889504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9535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77440" y="2889504"/>
            <a:ext cx="1828800" cy="347472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2889504"/>
            <a:ext cx="36576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29535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63440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(ENGINEERED)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572768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1572768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1618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37960" y="16184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Price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956816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9" name="Shape 37"/>
          <p:cNvSpPr/>
          <p:nvPr/>
        </p:nvSpPr>
        <p:spPr>
          <a:xfrm>
            <a:off x="4663440" y="1956816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0025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20025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estimate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340864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43" name="Shape 41"/>
          <p:cNvSpPr/>
          <p:nvPr/>
        </p:nvSpPr>
        <p:spPr>
          <a:xfrm>
            <a:off x="4663440" y="2340864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23865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(%)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37960" y="238658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discount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724912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2724912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770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37960" y="27706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international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108960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3440" y="3108960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154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Day / Hour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37960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InvoiceDate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3493008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55" name="Shape 53"/>
          <p:cNvSpPr/>
          <p:nvPr/>
        </p:nvSpPr>
        <p:spPr>
          <a:xfrm>
            <a:off x="4663440" y="3493008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35387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37960" y="3538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877056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59" name="Shape 57"/>
          <p:cNvSpPr/>
          <p:nvPr/>
        </p:nvSpPr>
        <p:spPr>
          <a:xfrm>
            <a:off x="4663440" y="3877056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392277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37960" y="39227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purchases made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4261104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63" name="Shape 61"/>
          <p:cNvSpPr/>
          <p:nvPr/>
        </p:nvSpPr>
        <p:spPr>
          <a:xfrm>
            <a:off x="4663440" y="4261104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64" name="Text 62"/>
          <p:cNvSpPr/>
          <p:nvPr/>
        </p:nvSpPr>
        <p:spPr>
          <a:xfrm>
            <a:off x="4754880" y="43068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Value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537960" y="430682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per customer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63440" y="4645152"/>
            <a:ext cx="4023360" cy="32004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67" name="Shape 65"/>
          <p:cNvSpPr/>
          <p:nvPr/>
        </p:nvSpPr>
        <p:spPr>
          <a:xfrm>
            <a:off x="4663440" y="4645152"/>
            <a:ext cx="36576" cy="320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68" name="Text 66"/>
          <p:cNvSpPr/>
          <p:nvPr/>
        </p:nvSpPr>
        <p:spPr>
          <a:xfrm>
            <a:off x="4754880" y="46908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537960" y="4690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Mid / High value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9FF14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1508760" cy="1280160"/>
          </a:xfrm>
          <a:prstGeom prst="rect">
            <a:avLst/>
          </a:prstGeom>
          <a:solidFill>
            <a:srgbClr val="00E5FF">
              <a:alpha val="85000"/>
            </a:srgbClr>
          </a:solidFill>
          <a:ln w="635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1691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764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1508760" cy="91440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788920"/>
            <a:ext cx="1399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e-commerce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1280160"/>
            <a:ext cx="1508760" cy="1280160"/>
          </a:xfrm>
          <a:prstGeom prst="rect">
            <a:avLst/>
          </a:prstGeom>
          <a:solidFill>
            <a:srgbClr val="39FF14">
              <a:alpha val="85000"/>
            </a:srgbClr>
          </a:solidFill>
          <a:ln w="6350">
            <a:solidFill>
              <a:srgbClr val="39FF14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1691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1764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011680" y="2724912"/>
            <a:ext cx="1508760" cy="91440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2788920"/>
            <a:ext cx="1399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sheets,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formatting &amp; CSV export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280160"/>
            <a:ext cx="1508760" cy="1280160"/>
          </a:xfrm>
          <a:prstGeom prst="rect">
            <a:avLst/>
          </a:prstGeom>
          <a:solidFill>
            <a:srgbClr val="FF2D78">
              <a:alpha val="85000"/>
            </a:srgbClr>
          </a:solidFill>
          <a:ln w="6350">
            <a:solidFill>
              <a:srgbClr val="FF2D78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49040" y="1691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764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749040" y="2724912"/>
            <a:ext cx="1508760" cy="91440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2788920"/>
            <a:ext cx="1399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nulls, remove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fix data types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1508760" cy="1280160"/>
          </a:xfrm>
          <a:prstGeom prst="rect">
            <a:avLst/>
          </a:prstGeom>
          <a:solidFill>
            <a:srgbClr val="BF5FFF">
              <a:alpha val="85000"/>
            </a:srgbClr>
          </a:solidFill>
          <a:ln w="6350">
            <a:solidFill>
              <a:srgbClr val="BF5F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1691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1764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486400" y="2724912"/>
            <a:ext cx="1508760" cy="91440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2788920"/>
            <a:ext cx="1399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9 new columns: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Sales, Profit, Segments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1280160"/>
            <a:ext cx="1508760" cy="1280160"/>
          </a:xfrm>
          <a:prstGeom prst="rect">
            <a:avLst/>
          </a:prstGeom>
          <a:solidFill>
            <a:srgbClr val="FFD700">
              <a:alpha val="85000"/>
            </a:srgbClr>
          </a:solidFill>
          <a:ln w="635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23760" y="1691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724912"/>
            <a:ext cx="1508760" cy="91440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2788920"/>
            <a:ext cx="1399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 ready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visualization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PYTHON CODE — FEATURE CREATION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169664"/>
            <a:ext cx="8001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df["Total_Sales"] = df["Quantity"] * df["Price"]    |    df["Customer_Segment"] = np.select(conditions, choices, default="High Value")    |    df["Discount(%)"] = np.round(np.random.uniform(0, 20, len(df)), 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BF5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Dashboard Tools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269748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26974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Dashboard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176272"/>
            <a:ext cx="118872" cy="11887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08483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interactive 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688336"/>
            <a:ext cx="118872" cy="11887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59689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KPI calculations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200400"/>
            <a:ext cx="118872" cy="11887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10896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Slicers, filters &amp; drill-down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3712464"/>
            <a:ext cx="118872" cy="11887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621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visualizations for regional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4224528"/>
            <a:ext cx="118872" cy="11887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413308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 processed CSV dataset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1261872"/>
            <a:ext cx="269748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1261872"/>
            <a:ext cx="2697480" cy="4572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Matplotlib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3756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176272"/>
            <a:ext cx="118872" cy="11887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08483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 graphs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688336"/>
            <a:ext cx="118872" cy="11887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59689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identification before Power BI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200400"/>
            <a:ext cx="118872" cy="11887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10896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scatter plots, line graphs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712464"/>
            <a:ext cx="118872" cy="118872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621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distributions and outliers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35624" y="1261872"/>
            <a:ext cx="269748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5624" y="1261872"/>
            <a:ext cx="269748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6" name="Text 34"/>
          <p:cNvSpPr/>
          <p:nvPr/>
        </p:nvSpPr>
        <p:spPr>
          <a:xfrm>
            <a:off x="6245352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45352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Data Tool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45352" y="2176272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8232" y="208483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data sheets into one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5352" y="2688336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41" name="Text 39"/>
          <p:cNvSpPr/>
          <p:nvPr/>
        </p:nvSpPr>
        <p:spPr>
          <a:xfrm>
            <a:off x="6428232" y="259689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viewing and validation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45352" y="3200400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43" name="Text 41"/>
          <p:cNvSpPr/>
          <p:nvPr/>
        </p:nvSpPr>
        <p:spPr>
          <a:xfrm>
            <a:off x="6428232" y="310896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export to CSV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5352" y="3712464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45" name="Text 43"/>
          <p:cNvSpPr/>
          <p:nvPr/>
        </p:nvSpPr>
        <p:spPr>
          <a:xfrm>
            <a:off x="6428232" y="3621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bridge between raw data and Python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work together: Excel → Python → Processed CSV → Power BI Dashboard → Business Insights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FD70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-914400"/>
            <a:ext cx="2286000" cy="228600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2103120" cy="475488"/>
          </a:xfrm>
          <a:prstGeom prst="rect">
            <a:avLst/>
          </a:prstGeom>
          <a:solidFill>
            <a:srgbClr val="00E5FF">
              <a:alpha val="85000"/>
            </a:srgbClr>
          </a:solidFill>
          <a:ln w="762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350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737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261872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261872"/>
            <a:ext cx="45720" cy="4754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1353312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500K+ records — Invoice, Product, Customer, Date, Country, Price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1874520"/>
            <a:ext cx="2103120" cy="475488"/>
          </a:xfrm>
          <a:prstGeom prst="rect">
            <a:avLst/>
          </a:prstGeom>
          <a:solidFill>
            <a:srgbClr val="39FF14">
              <a:alpha val="85000"/>
            </a:srgbClr>
          </a:solidFill>
          <a:ln w="7620">
            <a:solidFill>
              <a:srgbClr val="39FF14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476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35000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1874520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1874520"/>
            <a:ext cx="45720" cy="47548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1965960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handle missing values, remove duplicates, convert datetime formats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2103120" cy="475488"/>
          </a:xfrm>
          <a:prstGeom prst="rect">
            <a:avLst/>
          </a:prstGeom>
          <a:solidFill>
            <a:srgbClr val="FF2D78">
              <a:alpha val="85000"/>
            </a:srgbClr>
          </a:solidFill>
          <a:ln w="7620">
            <a:solidFill>
              <a:srgbClr val="FF2D78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603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9626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487168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487168"/>
            <a:ext cx="45720" cy="475488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6" name="Text 24"/>
          <p:cNvSpPr/>
          <p:nvPr/>
        </p:nvSpPr>
        <p:spPr>
          <a:xfrm>
            <a:off x="2880360" y="2578608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columns: Total Sales, Profit, RFM metrics, Discount, Segments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099816"/>
            <a:ext cx="2103120" cy="475488"/>
          </a:xfrm>
          <a:prstGeom prst="rect">
            <a:avLst/>
          </a:prstGeom>
          <a:solidFill>
            <a:srgbClr val="BF5FFF">
              <a:alpha val="85000"/>
            </a:srgbClr>
          </a:solidFill>
          <a:ln w="7620">
            <a:solidFill>
              <a:srgbClr val="BF5F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729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5753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099816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099816"/>
            <a:ext cx="45720" cy="475488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3191256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enriched dataset exported and ready for Power BI import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712464"/>
            <a:ext cx="2103120" cy="475488"/>
          </a:xfrm>
          <a:prstGeom prst="rect">
            <a:avLst/>
          </a:prstGeom>
          <a:solidFill>
            <a:srgbClr val="FFD700">
              <a:alpha val="85000"/>
            </a:srgbClr>
          </a:solidFill>
          <a:ln w="762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8561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18795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3712464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3712464"/>
            <a:ext cx="45720" cy="4754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8" name="Text 36"/>
          <p:cNvSpPr/>
          <p:nvPr/>
        </p:nvSpPr>
        <p:spPr>
          <a:xfrm>
            <a:off x="2880360" y="3803904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 pages: Sales, Customer, Product, RFM — with slicers &amp; KPIs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4325112"/>
            <a:ext cx="2103120" cy="475488"/>
          </a:xfrm>
          <a:prstGeom prst="rect">
            <a:avLst/>
          </a:prstGeom>
          <a:solidFill>
            <a:srgbClr val="00E5FF">
              <a:alpha val="85000"/>
            </a:srgbClr>
          </a:solidFill>
          <a:ln w="762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3982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Insights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0" y="4325112"/>
            <a:ext cx="5989320" cy="475488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4325112"/>
            <a:ext cx="45720" cy="4754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4416552"/>
            <a:ext cx="5715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Decision-making: identify trends, top customers, profitable products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9FF14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84048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61872"/>
            <a:ext cx="38404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81051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higher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34086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minimum (8 GB recommended)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71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8712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HDD / SSD preferred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3401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operating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9319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monitor, adequate resolution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261872"/>
            <a:ext cx="4160520" cy="3520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261872"/>
            <a:ext cx="4160520" cy="4572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81051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18105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or above (64-bit)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3408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234086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28712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8712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4015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4015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39319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Jupyter Notebook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4622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4462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00E5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OF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1572768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16.41M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02536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02536" y="1234440"/>
            <a:ext cx="1572768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4" name="Text 12"/>
          <p:cNvSpPr/>
          <p:nvPr/>
        </p:nvSpPr>
        <p:spPr>
          <a:xfrm>
            <a:off x="2002536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3.28M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02536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30752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1234440"/>
            <a:ext cx="1572768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3730752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812.3K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30752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58968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1234440"/>
            <a:ext cx="1572768" cy="36576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58968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5,925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58968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87184" y="1234440"/>
            <a:ext cx="1572768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7184" y="1234440"/>
            <a:ext cx="1572768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87184" y="139903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87184" y="203911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SHOWS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94436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944368"/>
            <a:ext cx="45720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992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(Line Chart)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33101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revenue with visible seasonal peaks. Highest sales (~3M) towards end of year.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294436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2944368"/>
            <a:ext cx="45720" cy="8686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29992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Donut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64992" y="33101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54.8% · Mid Value 25.5% · Low Value 19.7% — shows revenue concentration.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5624" y="2944368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944368"/>
            <a:ext cx="45720" cy="8686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9" name="Text 37"/>
          <p:cNvSpPr/>
          <p:nvPr/>
        </p:nvSpPr>
        <p:spPr>
          <a:xfrm>
            <a:off x="6272784" y="29992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Country (Bar)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72784" y="33101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leads at 13,606K. EIRE, Netherlands and Germany follow as top-performing regions.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922776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922776"/>
            <a:ext cx="45720" cy="868680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Sales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428853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 270K · White Hanging Heart 240K · Jumbo Bag 130K revenue leaders.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27832" y="3922776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27832" y="3922776"/>
            <a:ext cx="45720" cy="868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vs Sales by Segment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364992" y="428853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generate the most profit. Low-value customers contribute minimally.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35624" y="3922776"/>
            <a:ext cx="2743200" cy="86868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35624" y="3922776"/>
            <a:ext cx="45720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72784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72784" y="428853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 range, Country, and Customer Segment for dynamic real-time exploration.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F2D78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OF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1920240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34440"/>
            <a:ext cx="192024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2.77K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Customer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34440"/>
            <a:ext cx="192024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234440"/>
            <a:ext cx="192024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16.41M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SHOWS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8503920" cy="347472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44368"/>
            <a:ext cx="45720" cy="347472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992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Segment: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2999232"/>
            <a:ext cx="5806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generates £9.0M, Mid £4.2M, Low £3.2M — small group drives the majority of revenue.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64992"/>
            <a:ext cx="8503920" cy="347472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64992"/>
            <a:ext cx="45720" cy="347472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4198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Distribution: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3419856"/>
            <a:ext cx="5806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High 54.8%, Mid 25.5%, Low 19.7%. Shows heavy reliance on premium customers.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785616"/>
            <a:ext cx="8503920" cy="347472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85616"/>
            <a:ext cx="45720" cy="34747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404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Analysis: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80360" y="3840480"/>
            <a:ext cx="5806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18102 contributes £586K, Customer 14646 £511K — VIP customers identified for loyalty programs.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206240"/>
            <a:ext cx="45720" cy="34747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2611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vs Monetary Scatter: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80360" y="4261104"/>
            <a:ext cx="5806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purchase more often and spend significantly more per transaction than others.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626864"/>
            <a:ext cx="45720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6817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 Gauge: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80360" y="4681728"/>
            <a:ext cx="5806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 returning customers vs target of 4,740 — business is exceeding retention targets by a wide margin.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9FF14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OF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Performance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192024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Qty Sold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34440"/>
            <a:ext cx="192024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34440"/>
            <a:ext cx="1920240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234440"/>
            <a:ext cx="192024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Margin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26334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SOLD PRODUCTS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 3-Tier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0" y="3026664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3026664"/>
            <a:ext cx="1417320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2971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Hanging Heart Light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3364992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1" name="Shape 29"/>
          <p:cNvSpPr/>
          <p:nvPr/>
        </p:nvSpPr>
        <p:spPr>
          <a:xfrm>
            <a:off x="2926080" y="3364992"/>
            <a:ext cx="1261415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2" name="Text 30"/>
          <p:cNvSpPr/>
          <p:nvPr/>
        </p:nvSpPr>
        <p:spPr>
          <a:xfrm>
            <a:off x="4407408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6484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Bag Red Retrospot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26080" y="3703320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3703320"/>
            <a:ext cx="680314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6" name="Text 34"/>
          <p:cNvSpPr/>
          <p:nvPr/>
        </p:nvSpPr>
        <p:spPr>
          <a:xfrm>
            <a:off x="4407408" y="36484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9867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 Colour Bird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26080" y="4041648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0" y="4041648"/>
            <a:ext cx="680314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0" name="Text 38"/>
          <p:cNvSpPr/>
          <p:nvPr/>
        </p:nvSpPr>
        <p:spPr>
          <a:xfrm>
            <a:off x="4407408" y="3986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325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26080" y="4379976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3" name="Shape 41"/>
          <p:cNvSpPr/>
          <p:nvPr/>
        </p:nvSpPr>
        <p:spPr>
          <a:xfrm>
            <a:off x="2926080" y="4379976"/>
            <a:ext cx="581101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4" name="Text 42"/>
          <p:cNvSpPr/>
          <p:nvPr/>
        </p:nvSpPr>
        <p:spPr>
          <a:xfrm>
            <a:off x="4407408" y="4325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Bunting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0" y="4718304"/>
            <a:ext cx="1417320" cy="1554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0" y="4718304"/>
            <a:ext cx="524408" cy="15544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8" name="Text 46"/>
          <p:cNvSpPr/>
          <p:nvPr/>
        </p:nvSpPr>
        <p:spPr>
          <a:xfrm>
            <a:off x="4407408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7492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2971800"/>
            <a:ext cx="3749040" cy="448056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2971800"/>
            <a:ext cx="45720" cy="44805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2" name="Text 50"/>
          <p:cNvSpPr/>
          <p:nvPr/>
        </p:nvSpPr>
        <p:spPr>
          <a:xfrm>
            <a:off x="5212080" y="300837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≠ High Profit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12080" y="3218688"/>
            <a:ext cx="3520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and shipping costs significantly reduce margins on top-sellers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74920" y="3493008"/>
            <a:ext cx="3749040" cy="448056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3493008"/>
            <a:ext cx="45720" cy="44805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6" name="Text 54"/>
          <p:cNvSpPr/>
          <p:nvPr/>
        </p:nvSpPr>
        <p:spPr>
          <a:xfrm>
            <a:off x="5212080" y="352958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 in Q4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212080" y="3739896"/>
            <a:ext cx="3520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surge in October–December; inventory planning is critical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74920" y="4014216"/>
            <a:ext cx="3749040" cy="448056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74920" y="4014216"/>
            <a:ext cx="45720" cy="44805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40507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Concentrated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212080" y="4261104"/>
            <a:ext cx="3520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heavily concentrated in UK, EIRE, Netherlands and Germany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74920" y="4535424"/>
            <a:ext cx="3749040" cy="448056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74920" y="4535424"/>
            <a:ext cx="45720" cy="448056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212080" y="457200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Impact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212080" y="4782312"/>
            <a:ext cx="3520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average discount compresses profit — optimize pricing strategy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BF5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-914400"/>
            <a:ext cx="2286000" cy="2286000"/>
          </a:xfrm>
          <a:prstGeom prst="ellipse">
            <a:avLst/>
          </a:prstGeom>
          <a:solidFill>
            <a:srgbClr val="FF2D78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OF 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&amp; Customer Behavior Dashboard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34440"/>
            <a:ext cx="1920240" cy="36576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 (days)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234440"/>
            <a:ext cx="192024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6888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234440"/>
            <a:ext cx="192024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Monetary 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1920240" cy="123444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234440"/>
            <a:ext cx="1920240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3990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66560" y="2039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RFM MODEL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944368"/>
            <a:ext cx="2743200" cy="960120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35808"/>
            <a:ext cx="640080" cy="64008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7238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88720" y="30358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3337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recently did the customer buy?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High-value: 23 days  |  Low-value: 166 days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27832" y="2944368"/>
            <a:ext cx="2743200" cy="960120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64992" y="3035808"/>
            <a:ext cx="640080" cy="640080"/>
          </a:xfrm>
          <a:prstGeom prst="ellipse">
            <a:avLst/>
          </a:prstGeom>
          <a:solidFill>
            <a:srgbClr val="FF2D78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07238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096512" y="30358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96512" y="3337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the customer purchase?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buy far more often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35624" y="2944368"/>
            <a:ext cx="2743200" cy="960120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035808"/>
            <a:ext cx="640080" cy="640080"/>
          </a:xfrm>
          <a:prstGeom prst="ellipse">
            <a:avLst/>
          </a:prstGeom>
          <a:solidFill>
            <a:srgbClr val="39FF14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07238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004304" y="30358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04304" y="3337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customer spend?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drive maximum revenue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COMPARISON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343400"/>
            <a:ext cx="2743200" cy="530352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343400"/>
            <a:ext cx="45720" cy="5303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389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6268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23 days  |  Freq: Highest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27832" y="4343400"/>
            <a:ext cx="2743200" cy="530352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27832" y="4343400"/>
            <a:ext cx="45720" cy="5303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4389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VALUE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64992" y="46268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56 days  |  Freq: Moderate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35624" y="4343400"/>
            <a:ext cx="2743200" cy="530352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35624" y="4343400"/>
            <a:ext cx="45720" cy="530352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2" name="Text 50"/>
          <p:cNvSpPr/>
          <p:nvPr/>
        </p:nvSpPr>
        <p:spPr>
          <a:xfrm>
            <a:off x="6272784" y="4389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72784" y="46268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166 days  |  Freq: Low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45720" cy="111556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53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Rule in 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and regions drives the majority of total revenue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261872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61872"/>
            <a:ext cx="45720" cy="1115568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is Strong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0078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 returning customers far exceed the target — loyalty programs are working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523744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39FF14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23744"/>
            <a:ext cx="45720" cy="111556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151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≠ Profit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6265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High-selling products don't always yield high profit — discounts erode margins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523744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BF5F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523744"/>
            <a:ext cx="45720" cy="1115568"/>
          </a:xfrm>
          <a:prstGeom prst="rect">
            <a:avLst/>
          </a:prstGeom>
          <a:solidFill>
            <a:srgbClr val="BF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151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Active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96265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just 23 days for top-segment; low-value customers at 166 days are churning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785616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85616"/>
            <a:ext cx="45720" cy="11155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770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Only 2.28%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product return rate signals strong customer satisfaction and product quality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785616"/>
            <a:ext cx="4114800" cy="1115568"/>
          </a:xfrm>
          <a:prstGeom prst="rect">
            <a:avLst/>
          </a:prstGeom>
          <a:solidFill>
            <a:srgbClr val="121A3E"/>
          </a:solidFill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85616"/>
            <a:ext cx="45720" cy="1115568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8770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Dominates Geography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22452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alone accounts for ~80% of sales; expansion in Europe &amp; globally is a major opportunity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053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2D78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371600"/>
            <a:ext cx="5486400" cy="5486400"/>
          </a:xfrm>
          <a:prstGeom prst="ellipse">
            <a:avLst/>
          </a:prstGeom>
          <a:solidFill>
            <a:srgbClr val="BF5F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457200"/>
            <a:ext cx="1993392" cy="1417320"/>
          </a:xfrm>
          <a:prstGeom prst="rect">
            <a:avLst/>
          </a:prstGeom>
          <a:solidFill>
            <a:srgbClr val="00E5FF">
              <a:alpha val="80000"/>
            </a:srgbClr>
          </a:solidFill>
          <a:ln w="762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5486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07899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16.41M sales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812K orders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6312" y="457200"/>
            <a:ext cx="1993392" cy="1417320"/>
          </a:xfrm>
          <a:prstGeom prst="rect">
            <a:avLst/>
          </a:prstGeom>
          <a:solidFill>
            <a:srgbClr val="FF2D78">
              <a:alpha val="80000"/>
            </a:srgbClr>
          </a:solidFill>
          <a:ln w="7620">
            <a:solidFill>
              <a:srgbClr val="FF2D7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5486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107899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5,925 customers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2.77K avg revenue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2584" y="457200"/>
            <a:ext cx="1993392" cy="1417320"/>
          </a:xfrm>
          <a:prstGeom prst="rect">
            <a:avLst/>
          </a:prstGeom>
          <a:solidFill>
            <a:srgbClr val="39FF14">
              <a:alpha val="80000"/>
            </a:srgbClr>
          </a:solidFill>
          <a:ln w="7620">
            <a:solidFill>
              <a:srgbClr val="39FF1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5486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107899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units sold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 profit margin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8856" y="457200"/>
            <a:ext cx="1993392" cy="1417320"/>
          </a:xfrm>
          <a:prstGeom prst="rect">
            <a:avLst/>
          </a:prstGeom>
          <a:solidFill>
            <a:srgbClr val="BF5FFF">
              <a:alpha val="80000"/>
            </a:srgbClr>
          </a:solidFill>
          <a:ln w="7620">
            <a:solidFill>
              <a:srgbClr val="BF5F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5486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48856" y="107899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2.28% return 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70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 identified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08483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2743200" y="2944368"/>
            <a:ext cx="3657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90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data analytics can transform raw e-commerce transactions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clear, actionable intelligence — driving smarter business decisions.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1429</Words>
  <Application>Microsoft Office PowerPoint</Application>
  <PresentationFormat>On-screen Show (16:9)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Analytics</dc:title>
  <dc:subject>PptxGenJS Presentation</dc:subject>
  <dc:creator>PptxGenJS</dc:creator>
  <cp:lastModifiedBy>Aman semwal</cp:lastModifiedBy>
  <cp:revision>4</cp:revision>
  <dcterms:created xsi:type="dcterms:W3CDTF">2026-04-21T06:52:24Z</dcterms:created>
  <dcterms:modified xsi:type="dcterms:W3CDTF">2026-05-07T16:09:10Z</dcterms:modified>
</cp:coreProperties>
</file>